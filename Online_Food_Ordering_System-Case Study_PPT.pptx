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43"/>
  </p:notesMasterIdLst>
  <p:sldIdLst>
    <p:sldId id="280" r:id="rId5"/>
    <p:sldId id="277" r:id="rId6"/>
    <p:sldId id="301" r:id="rId7"/>
    <p:sldId id="293" r:id="rId8"/>
    <p:sldId id="295" r:id="rId9"/>
    <p:sldId id="296" r:id="rId10"/>
    <p:sldId id="297" r:id="rId11"/>
    <p:sldId id="298" r:id="rId12"/>
    <p:sldId id="302" r:id="rId13"/>
    <p:sldId id="303" r:id="rId14"/>
    <p:sldId id="309" r:id="rId15"/>
    <p:sldId id="310" r:id="rId16"/>
    <p:sldId id="299" r:id="rId17"/>
    <p:sldId id="304" r:id="rId18"/>
    <p:sldId id="305" r:id="rId19"/>
    <p:sldId id="306" r:id="rId20"/>
    <p:sldId id="307" r:id="rId21"/>
    <p:sldId id="308" r:id="rId22"/>
    <p:sldId id="328" r:id="rId23"/>
    <p:sldId id="290" r:id="rId24"/>
    <p:sldId id="312" r:id="rId25"/>
    <p:sldId id="311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00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25E5076-3810-47DD-B79F-674D7AD40C01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09" autoAdjust="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6E302-901B-4EC5-8063-F4475DEAA8C8}" type="datetimeFigureOut">
              <a:rPr lang="en-US" smtClean="0"/>
              <a:t>11/22/2025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B3765-1535-41FB-A927-AAD2D1E853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5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32322-E236-FB6A-D4B8-F6D08F4039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1272" y="914400"/>
            <a:ext cx="3392424" cy="25146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258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5669C7-03B9-341C-8E54-929B3B89C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26965" r="31989" b="50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5806440" cy="5129784"/>
          </a:xfrm>
        </p:spPr>
        <p:txBody>
          <a:bodyPr wrap="square" anchor="b">
            <a:normAutofit/>
          </a:bodyPr>
          <a:lstStyle>
            <a:lvl1pPr algn="r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A97C257-0C1F-79D6-2080-F863FF7F2D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914402"/>
            <a:ext cx="4927249" cy="4991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8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1392AC-2F17-140B-1676-75B74CAC6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5701" r="40485" b="2478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22192"/>
            <a:ext cx="10360152" cy="2221992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03336" y="914400"/>
            <a:ext cx="2880360" cy="2130552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B65A55A-B3A8-36E5-D327-23E999B96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0"/>
            <a:ext cx="6940296" cy="32735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00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B9F3A-C4B7-7DED-7AB7-0E1DC0872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0741" t="4074" r="13612" b="20124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3008376"/>
          </a:xfrm>
        </p:spPr>
        <p:txBody>
          <a:bodyPr wrap="square" anchor="b">
            <a:normAutofit/>
          </a:bodyPr>
          <a:lstStyle>
            <a:lvl1pPr algn="ctr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78224"/>
            <a:ext cx="1036015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88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1000"/>
              </a:spcBef>
              <a:defRPr/>
            </a:lvl3pPr>
            <a:lvl4pPr marL="1142971">
              <a:spcBef>
                <a:spcPts val="1000"/>
              </a:spcBef>
              <a:defRPr/>
            </a:lvl4pPr>
            <a:lvl5pPr marL="160016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1000"/>
              </a:spcBef>
              <a:defRPr/>
            </a:lvl3pPr>
            <a:lvl4pPr marL="1142971">
              <a:spcBef>
                <a:spcPts val="1000"/>
              </a:spcBef>
              <a:defRPr/>
            </a:lvl4pPr>
            <a:lvl5pPr marL="160016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637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512051" indent="-512051">
              <a:spcBef>
                <a:spcPts val="1000"/>
              </a:spcBef>
              <a:buFont typeface="+mj-lt"/>
              <a:buAutoNum type="arabicPeriod"/>
              <a:defRPr/>
            </a:lvl2pPr>
            <a:lvl3pPr marL="1097253" indent="-512051">
              <a:spcBef>
                <a:spcPts val="1000"/>
              </a:spcBef>
              <a:buFont typeface="+mj-lt"/>
              <a:buAutoNum type="alphaLcPeriod"/>
              <a:defRPr/>
            </a:lvl3pPr>
            <a:lvl4pPr marL="1645879" indent="-512051">
              <a:spcBef>
                <a:spcPts val="1000"/>
              </a:spcBef>
              <a:buFont typeface="+mj-lt"/>
              <a:buAutoNum type="arabicParenR"/>
              <a:defRPr/>
            </a:lvl4pPr>
            <a:lvl5pPr marL="2194505" indent="-512051">
              <a:spcBef>
                <a:spcPts val="1000"/>
              </a:spcBef>
              <a:buFont typeface="+mj-lt"/>
              <a:buAutoNum type="alphaLcParenR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1000"/>
              </a:spcBef>
              <a:defRPr/>
            </a:lvl3pPr>
            <a:lvl4pPr marL="1142971">
              <a:spcBef>
                <a:spcPts val="1000"/>
              </a:spcBef>
              <a:defRPr/>
            </a:lvl4pPr>
            <a:lvl5pPr marL="160016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522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7723F4FA-7ADE-EA52-E869-4842D0C7FC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743200"/>
            <a:ext cx="4764024" cy="3163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2664" y="2743200"/>
            <a:ext cx="59710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1000"/>
              </a:spcBef>
              <a:defRPr/>
            </a:lvl3pPr>
            <a:lvl4pPr marL="1142971">
              <a:spcBef>
                <a:spcPts val="1000"/>
              </a:spcBef>
              <a:defRPr/>
            </a:lvl4pPr>
            <a:lvl5pPr marL="160016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9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01752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1000"/>
              </a:spcBef>
              <a:defRPr/>
            </a:lvl3pPr>
            <a:lvl4pPr marL="1142971">
              <a:spcBef>
                <a:spcPts val="1000"/>
              </a:spcBef>
              <a:defRPr/>
            </a:lvl4pPr>
            <a:lvl5pPr marL="160016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272" y="2871216"/>
            <a:ext cx="6812280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1000"/>
              </a:spcBef>
              <a:defRPr/>
            </a:lvl3pPr>
            <a:lvl4pPr marL="1142971">
              <a:spcBef>
                <a:spcPts val="1000"/>
              </a:spcBef>
              <a:defRPr/>
            </a:lvl4pPr>
            <a:lvl5pPr marL="160016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6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81228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500"/>
              </a:spcBef>
              <a:defRPr/>
            </a:lvl3pPr>
            <a:lvl4pPr marL="1142971">
              <a:spcBef>
                <a:spcPts val="500"/>
              </a:spcBef>
              <a:defRPr/>
            </a:lvl4pPr>
            <a:lvl5pPr marL="1600160">
              <a:spcBef>
                <a:spcPts val="5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75320" y="2743200"/>
            <a:ext cx="29992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1000"/>
              </a:spcBef>
              <a:defRPr/>
            </a:lvl3pPr>
            <a:lvl4pPr marL="1142971">
              <a:spcBef>
                <a:spcPts val="1000"/>
              </a:spcBef>
              <a:defRPr/>
            </a:lvl4pPr>
            <a:lvl5pPr marL="1600160"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839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1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1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871216"/>
            <a:ext cx="10360152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594">
              <a:spcBef>
                <a:spcPts val="1000"/>
              </a:spcBef>
              <a:defRPr/>
            </a:lvl2pPr>
            <a:lvl3pPr marL="685783">
              <a:spcBef>
                <a:spcPts val="500"/>
              </a:spcBef>
              <a:defRPr/>
            </a:lvl3pPr>
            <a:lvl4pPr marL="1142971">
              <a:spcBef>
                <a:spcPts val="500"/>
              </a:spcBef>
              <a:defRPr/>
            </a:lvl4pPr>
            <a:lvl5pPr marL="1600160">
              <a:spcBef>
                <a:spcPts val="5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57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68743-342F-6CA4-7BA5-942F2C4C23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151" t="1794" r="25966" b="25175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 wrap="square" anchor="t">
            <a:normAutofit/>
          </a:bodyPr>
          <a:lstStyle>
            <a:lvl1pPr algn="l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 anchor="b">
            <a:normAutofit/>
          </a:bodyPr>
          <a:lstStyle>
            <a:lvl1pPr marL="0" indent="0" algn="l">
              <a:lnSpc>
                <a:spcPct val="7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4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F3310A-1B80-61B0-BFD3-6FD502894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D8424F-C2F4-1029-7B75-2B8A9326B3D7}"/>
              </a:ext>
            </a:extLst>
          </p:cNvPr>
          <p:cNvSpPr/>
          <p:nvPr userDrawn="1"/>
        </p:nvSpPr>
        <p:spPr>
          <a:xfrm>
            <a:off x="139700" y="136525"/>
            <a:ext cx="11912600" cy="65849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43200"/>
            <a:ext cx="6483096" cy="316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8552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457200"/>
            <a:ext cx="9564624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760" y="466344"/>
            <a:ext cx="107899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600" b="0" u="sng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0670F10-A7D9-0850-FBA3-0930C575E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871912"/>
            <a:ext cx="11763375" cy="1862138"/>
          </a:xfrm>
        </p:spPr>
        <p:txBody>
          <a:bodyPr>
            <a:normAutofit/>
          </a:bodyPr>
          <a:lstStyle/>
          <a:p>
            <a:r>
              <a:rPr lang="en-US" sz="4800" b="1" u="none" dirty="0">
                <a:latin typeface="Californian FB" panose="0207040306080B030204" pitchFamily="18" charset="0"/>
              </a:rPr>
              <a:t>ONLINE FOOD ORDERING SYSTEM </a:t>
            </a:r>
            <a:br>
              <a:rPr lang="en-US" sz="4800" b="1" u="none" dirty="0">
                <a:latin typeface="Californian FB" panose="0207040306080B030204" pitchFamily="18" charset="0"/>
              </a:rPr>
            </a:br>
            <a:r>
              <a:rPr lang="en-US" sz="4800" b="1" u="none" dirty="0">
                <a:latin typeface="Californian FB" panose="0207040306080B030204" pitchFamily="18" charset="0"/>
              </a:rPr>
              <a:t>– SQL CASE STUDY</a:t>
            </a:r>
            <a:br>
              <a:rPr lang="en-US" dirty="0"/>
            </a:br>
            <a:r>
              <a:rPr lang="en-US" sz="2400" i="1" dirty="0"/>
              <a:t>A Complete Database &amp; Business Analytics Project</a:t>
            </a:r>
            <a:endParaRPr lang="en-US" sz="24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B1D02C-C51E-AC77-2221-624A58631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9948" y="695325"/>
            <a:ext cx="3392424" cy="1009651"/>
          </a:xfrm>
        </p:spPr>
        <p:txBody>
          <a:bodyPr>
            <a:noAutofit/>
          </a:bodyPr>
          <a:lstStyle/>
          <a:p>
            <a:r>
              <a:rPr lang="en-US" sz="3200" b="1" dirty="0"/>
              <a:t>By</a:t>
            </a:r>
          </a:p>
          <a:p>
            <a:r>
              <a:rPr lang="en-US" sz="3200" b="1" dirty="0"/>
              <a:t>Shubham Singh</a:t>
            </a:r>
          </a:p>
        </p:txBody>
      </p:sp>
    </p:spTree>
    <p:extLst>
      <p:ext uri="{BB962C8B-B14F-4D97-AF65-F5344CB8AC3E}">
        <p14:creationId xmlns:p14="http://schemas.microsoft.com/office/powerpoint/2010/main" val="27646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AC2BC53-0CE7-3117-0C3D-9435FF27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5FE201-66E6-9884-8CE5-29160B58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F3601A2-1153-809A-A08D-4131BD4FF6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71675" y="2609850"/>
            <a:ext cx="9245601" cy="29241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This case study focuses on building and analyzing an </a:t>
            </a:r>
            <a:r>
              <a:rPr lang="en-US" sz="2000" b="1" dirty="0"/>
              <a:t>Online Food Ordering System</a:t>
            </a:r>
            <a:r>
              <a:rPr lang="en-US" sz="2000" dirty="0"/>
              <a:t> using SQL.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 system enables: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Customers to browse menus, place orders, and leave reviews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Restaurants to manage menu items, track orders &amp;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business to analyze sales, customer behavior, cuisine trends, and satisfaction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28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AC2BC53-0CE7-3117-0C3D-9435FF277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OF THE CASE STUDY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5FE201-66E6-9884-8CE5-29160B58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F3601A2-1153-809A-A08D-4131BD4FF6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73199" y="2390775"/>
            <a:ext cx="9245601" cy="36290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case study aims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Understand customer ordering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Identify top-performing restaurants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Analyze menu popularity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Measure 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Evaluate revenue trends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Detect operational inefficiencies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Support predictions with data insights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524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2DBB5-7951-6BD8-B025-ABCC20D4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OVERVIEW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E622F-4D29-CE2E-94C6-57939759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A14529-13B2-5F66-A8E9-EA890736E5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09699" y="2476499"/>
            <a:ext cx="8524875" cy="373380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/>
              <a:t>The Online Food Ordering System consists of:</a:t>
            </a:r>
          </a:p>
          <a:p>
            <a:pPr marL="0" indent="0">
              <a:buNone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Customers</a:t>
            </a:r>
            <a:r>
              <a:rPr lang="en-US" sz="2200" dirty="0"/>
              <a:t> –  user personal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Restaurants</a:t>
            </a:r>
            <a:r>
              <a:rPr lang="en-US" sz="2200" dirty="0"/>
              <a:t> –  restaurant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 err="1"/>
              <a:t>MenuItems</a:t>
            </a:r>
            <a:r>
              <a:rPr lang="en-US" sz="2200" dirty="0"/>
              <a:t> –  list of foods offered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Orders</a:t>
            </a:r>
            <a:r>
              <a:rPr lang="en-US" sz="2200" dirty="0"/>
              <a:t> –  order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 err="1"/>
              <a:t>OrderDetails</a:t>
            </a:r>
            <a:r>
              <a:rPr lang="en-US" sz="2200" dirty="0"/>
              <a:t> –  item-wise breakdown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/>
              <a:t>Reviews</a:t>
            </a:r>
            <a:r>
              <a:rPr lang="en-US" sz="2200" dirty="0"/>
              <a:t> –  customer feedback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   These tables create a complete operational and analytical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EE1B8-2446-2DF7-962B-DB92A942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DATABASE SCHEMA OVERVIEW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A3497-079A-3258-D681-B00DC23D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FCB1CA-92D4-EACA-46E4-D8C553B38A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03020" y="2324099"/>
            <a:ext cx="7536180" cy="4048125"/>
          </a:xfrm>
        </p:spPr>
        <p:txBody>
          <a:bodyPr/>
          <a:lstStyle/>
          <a:p>
            <a:r>
              <a:rPr lang="en-US" sz="2000" dirty="0"/>
              <a:t>A relational schema connecting six core tables: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Restaurants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MenuItems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Orders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OrderDetails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Reviews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Includes PK–FK relationships for integrity.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20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ABFC16-251A-1872-8EB9-094CC65E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211" y="323849"/>
            <a:ext cx="10360152" cy="1179576"/>
          </a:xfrm>
        </p:spPr>
        <p:txBody>
          <a:bodyPr/>
          <a:lstStyle/>
          <a:p>
            <a:r>
              <a:rPr lang="en-IN" b="1" dirty="0"/>
              <a:t>ER DIAGRAM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6EDD5-BA62-85BC-6A64-6660070A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1413E1-790C-42A9-829A-5BE202E78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1581151"/>
            <a:ext cx="959167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140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57EB0-5F4A-BC62-ACDA-C1858459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CUSTOMERS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D553D-0E85-61CD-BAC7-583390CC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017A9-4947-4AC8-411C-6F37704EDF0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19437" y="6276975"/>
            <a:ext cx="5953125" cy="409575"/>
          </a:xfrm>
        </p:spPr>
        <p:txBody>
          <a:bodyPr>
            <a:normAutofit/>
          </a:bodyPr>
          <a:lstStyle/>
          <a:p>
            <a:r>
              <a:rPr lang="en-US" sz="2000" dirty="0"/>
              <a:t>Purpose: Stores customer identity and contact details.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D4FE1E-669A-4031-BBE1-35D11184B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0" y="2181034"/>
            <a:ext cx="6119812" cy="385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50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591D-BF59-75A6-B1C9-DBC3D8D7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RESTAURANTS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9CB80-DDDE-3407-AEE0-0CFDD679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3BE57-7BDE-6CEF-EFF3-BD118FC7F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08426" y="6296025"/>
            <a:ext cx="5372100" cy="428625"/>
          </a:xfrm>
        </p:spPr>
        <p:txBody>
          <a:bodyPr>
            <a:normAutofit/>
          </a:bodyPr>
          <a:lstStyle/>
          <a:p>
            <a:r>
              <a:rPr lang="en-US" sz="2000" dirty="0"/>
              <a:t>Purpose: Represents restaurants on the platform.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1B574-5720-489D-AD30-3DF94F0A7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49" y="2204199"/>
            <a:ext cx="6448425" cy="390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72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591D-BF59-75A6-B1C9-DBC3D8D7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MENUITEMS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9CB80-DDDE-3407-AEE0-0CFDD679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3BE57-7BDE-6CEF-EFF3-BD118FC7F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7476" y="6296025"/>
            <a:ext cx="6268974" cy="428625"/>
          </a:xfrm>
        </p:spPr>
        <p:txBody>
          <a:bodyPr>
            <a:noAutofit/>
          </a:bodyPr>
          <a:lstStyle/>
          <a:p>
            <a:r>
              <a:rPr lang="en-US" sz="2000" dirty="0"/>
              <a:t>Purpose: </a:t>
            </a:r>
            <a:r>
              <a:rPr lang="en-US" sz="2000" dirty="0" err="1"/>
              <a:t>StoresMenu</a:t>
            </a:r>
            <a:r>
              <a:rPr lang="en-US" sz="2000" dirty="0"/>
              <a:t> items offered by each restaurant.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37036-2B6A-4866-9202-68CE9D162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64" y="2093976"/>
            <a:ext cx="8206286" cy="405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7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591D-BF59-75A6-B1C9-DBC3D8D7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ORDERS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9CB80-DDDE-3407-AEE0-0CFDD679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3BE57-7BDE-6CEF-EFF3-BD118FC7F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7476" y="6296025"/>
            <a:ext cx="6268974" cy="428625"/>
          </a:xfrm>
        </p:spPr>
        <p:txBody>
          <a:bodyPr>
            <a:noAutofit/>
          </a:bodyPr>
          <a:lstStyle/>
          <a:p>
            <a:r>
              <a:rPr lang="en-US" sz="2000" dirty="0"/>
              <a:t>Purpose: Tracks orders placed by customers.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D53441-8EC1-40CD-A094-41065D536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124" y="2093975"/>
            <a:ext cx="7573376" cy="42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97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591D-BF59-75A6-B1C9-DBC3D8D7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ORDERDETAILS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9CB80-DDDE-3407-AEE0-0CFDD679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3BE57-7BDE-6CEF-EFF3-BD118FC7F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7476" y="6296025"/>
            <a:ext cx="6268974" cy="428625"/>
          </a:xfrm>
        </p:spPr>
        <p:txBody>
          <a:bodyPr>
            <a:noAutofit/>
          </a:bodyPr>
          <a:lstStyle/>
          <a:p>
            <a:r>
              <a:rPr lang="en-US" sz="2000" dirty="0"/>
              <a:t>Purpose:</a:t>
            </a:r>
            <a:r>
              <a:rPr lang="en-IN" sz="2000" dirty="0"/>
              <a:t>Stores item-wise order data.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3B8465-FA97-4103-B527-FBB9B284E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98" y="2093975"/>
            <a:ext cx="7406151" cy="420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050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591D-BF59-75A6-B1C9-DBC3D8D7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REVIEWS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9CB80-DDDE-3407-AEE0-0CFDD679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3BE57-7BDE-6CEF-EFF3-BD118FC7F6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27476" y="6296025"/>
            <a:ext cx="6268974" cy="428625"/>
          </a:xfrm>
        </p:spPr>
        <p:txBody>
          <a:bodyPr>
            <a:noAutofit/>
          </a:bodyPr>
          <a:lstStyle/>
          <a:p>
            <a:r>
              <a:rPr lang="en-US" sz="2000" dirty="0"/>
              <a:t>Purpose: </a:t>
            </a:r>
            <a:r>
              <a:rPr lang="en-IN" sz="2000" dirty="0"/>
              <a:t>Captures customer ratings &amp; comments.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09BE2-6879-4B3F-8ED5-810F9BE86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650" y="2171463"/>
            <a:ext cx="7944900" cy="399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22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4FE57-ACC8-E12E-51C9-465F536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9" y="530053"/>
            <a:ext cx="10360152" cy="1179576"/>
          </a:xfrm>
        </p:spPr>
        <p:txBody>
          <a:bodyPr/>
          <a:lstStyle/>
          <a:p>
            <a:r>
              <a:rPr lang="en-IN" b="1" dirty="0"/>
              <a:t>INSERTING DATA- CUSTOMERS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5219B-5D1A-ABDC-2CE5-B6F9CDE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EB24ED-F64A-4126-BAD6-2AB6EC64A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9" y="2150885"/>
            <a:ext cx="5539456" cy="41163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CDE13E-2B22-48EC-A96D-878A25495CA1}"/>
              </a:ext>
            </a:extLst>
          </p:cNvPr>
          <p:cNvSpPr txBox="1"/>
          <p:nvPr/>
        </p:nvSpPr>
        <p:spPr>
          <a:xfrm>
            <a:off x="204120" y="185044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DA2FD-CAB4-4D4C-A41D-E8D1D4418C12}"/>
              </a:ext>
            </a:extLst>
          </p:cNvPr>
          <p:cNvSpPr txBox="1"/>
          <p:nvPr/>
        </p:nvSpPr>
        <p:spPr>
          <a:xfrm>
            <a:off x="5743576" y="189630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F4B45B-890D-429E-A523-8DA2C8F18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6" y="2311045"/>
            <a:ext cx="6244305" cy="382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227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4FE57-ACC8-E12E-51C9-465F536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9" y="530053"/>
            <a:ext cx="10360152" cy="1179576"/>
          </a:xfrm>
        </p:spPr>
        <p:txBody>
          <a:bodyPr/>
          <a:lstStyle/>
          <a:p>
            <a:r>
              <a:rPr lang="en-IN" b="1" dirty="0"/>
              <a:t>INSERTING DATA- RESTAURANTS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5219B-5D1A-ABDC-2CE5-B6F9CDE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DE13E-2B22-48EC-A96D-878A25495CA1}"/>
              </a:ext>
            </a:extLst>
          </p:cNvPr>
          <p:cNvSpPr txBox="1"/>
          <p:nvPr/>
        </p:nvSpPr>
        <p:spPr>
          <a:xfrm>
            <a:off x="204120" y="185044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DA2FD-CAB4-4D4C-A41D-E8D1D4418C12}"/>
              </a:ext>
            </a:extLst>
          </p:cNvPr>
          <p:cNvSpPr txBox="1"/>
          <p:nvPr/>
        </p:nvSpPr>
        <p:spPr>
          <a:xfrm>
            <a:off x="5743576" y="189630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0F9830-C37B-4E21-A675-BA9AFFAA7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9" y="2311045"/>
            <a:ext cx="5539457" cy="3823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FB92FF-DE9A-4BE5-94EB-137E7FE8E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6" y="2221920"/>
            <a:ext cx="6244305" cy="391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7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4FE57-ACC8-E12E-51C9-465F536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9" y="530053"/>
            <a:ext cx="10360152" cy="1179576"/>
          </a:xfrm>
        </p:spPr>
        <p:txBody>
          <a:bodyPr/>
          <a:lstStyle/>
          <a:p>
            <a:r>
              <a:rPr lang="en-IN" b="1" dirty="0"/>
              <a:t>INSERTING DATA- MENUITEMS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5219B-5D1A-ABDC-2CE5-B6F9CDE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DE13E-2B22-48EC-A96D-878A25495CA1}"/>
              </a:ext>
            </a:extLst>
          </p:cNvPr>
          <p:cNvSpPr txBox="1"/>
          <p:nvPr/>
        </p:nvSpPr>
        <p:spPr>
          <a:xfrm>
            <a:off x="204120" y="185044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DA2FD-CAB4-4D4C-A41D-E8D1D4418C12}"/>
              </a:ext>
            </a:extLst>
          </p:cNvPr>
          <p:cNvSpPr txBox="1"/>
          <p:nvPr/>
        </p:nvSpPr>
        <p:spPr>
          <a:xfrm>
            <a:off x="5743576" y="189630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608B20-45E2-4046-8759-E22DAD4D5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9" y="2267780"/>
            <a:ext cx="5539457" cy="4418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E5979F-4AA8-47A6-A7D2-22AA32FE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7" y="2313640"/>
            <a:ext cx="6315074" cy="43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49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4FE57-ACC8-E12E-51C9-465F536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9" y="530053"/>
            <a:ext cx="10360152" cy="1179576"/>
          </a:xfrm>
        </p:spPr>
        <p:txBody>
          <a:bodyPr/>
          <a:lstStyle/>
          <a:p>
            <a:r>
              <a:rPr lang="en-IN" b="1" dirty="0"/>
              <a:t>INSERTING DATA- ORDERS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5219B-5D1A-ABDC-2CE5-B6F9CDE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DE13E-2B22-48EC-A96D-878A25495CA1}"/>
              </a:ext>
            </a:extLst>
          </p:cNvPr>
          <p:cNvSpPr txBox="1"/>
          <p:nvPr/>
        </p:nvSpPr>
        <p:spPr>
          <a:xfrm>
            <a:off x="204120" y="185044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DA2FD-CAB4-4D4C-A41D-E8D1D4418C12}"/>
              </a:ext>
            </a:extLst>
          </p:cNvPr>
          <p:cNvSpPr txBox="1"/>
          <p:nvPr/>
        </p:nvSpPr>
        <p:spPr>
          <a:xfrm>
            <a:off x="5743576" y="189630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4F2FBD-2C9F-4360-9312-1BA0A0684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9" y="2082043"/>
            <a:ext cx="5539457" cy="45854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BBB243-38F6-4879-BB74-BFD7D48DDE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576" y="2221919"/>
            <a:ext cx="5991225" cy="444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67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4FE57-ACC8-E12E-51C9-465F536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9" y="530053"/>
            <a:ext cx="10360152" cy="1179576"/>
          </a:xfrm>
        </p:spPr>
        <p:txBody>
          <a:bodyPr/>
          <a:lstStyle/>
          <a:p>
            <a:r>
              <a:rPr lang="en-IN" b="1" dirty="0"/>
              <a:t>INSERTING DATA- ORDERDETAILS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5219B-5D1A-ABDC-2CE5-B6F9CDE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DE13E-2B22-48EC-A96D-878A25495CA1}"/>
              </a:ext>
            </a:extLst>
          </p:cNvPr>
          <p:cNvSpPr txBox="1"/>
          <p:nvPr/>
        </p:nvSpPr>
        <p:spPr>
          <a:xfrm>
            <a:off x="204120" y="185044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DA2FD-CAB4-4D4C-A41D-E8D1D4418C12}"/>
              </a:ext>
            </a:extLst>
          </p:cNvPr>
          <p:cNvSpPr txBox="1"/>
          <p:nvPr/>
        </p:nvSpPr>
        <p:spPr>
          <a:xfrm>
            <a:off x="5743576" y="189630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650AC-AF7C-4061-B708-C5E3E3B90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9" y="2221920"/>
            <a:ext cx="5539457" cy="43598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60CA34-E7A8-4369-A22F-6DA33A12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51" y="2267780"/>
            <a:ext cx="5895974" cy="431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83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4FE57-ACC8-E12E-51C9-465F536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19" y="530053"/>
            <a:ext cx="10360152" cy="1179576"/>
          </a:xfrm>
        </p:spPr>
        <p:txBody>
          <a:bodyPr/>
          <a:lstStyle/>
          <a:p>
            <a:r>
              <a:rPr lang="en-IN" b="1" dirty="0"/>
              <a:t>INSERTING DATA- REVIEWS TABLE</a:t>
            </a:r>
            <a:endParaRPr lang="en-US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5219B-5D1A-ABDC-2CE5-B6F9CDE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CDE13E-2B22-48EC-A96D-878A25495CA1}"/>
              </a:ext>
            </a:extLst>
          </p:cNvPr>
          <p:cNvSpPr txBox="1"/>
          <p:nvPr/>
        </p:nvSpPr>
        <p:spPr>
          <a:xfrm>
            <a:off x="204120" y="185044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DA2FD-CAB4-4D4C-A41D-E8D1D4418C12}"/>
              </a:ext>
            </a:extLst>
          </p:cNvPr>
          <p:cNvSpPr txBox="1"/>
          <p:nvPr/>
        </p:nvSpPr>
        <p:spPr>
          <a:xfrm>
            <a:off x="5743576" y="1896305"/>
            <a:ext cx="1571626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30007-E9D2-4CAD-9E39-4858086B7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9" y="2221920"/>
            <a:ext cx="5539457" cy="4210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014C2A-5D44-4D28-9F24-885D822DA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326" y="2366737"/>
            <a:ext cx="6311556" cy="396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009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0670F10-A7D9-0850-FBA3-0930C575E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5548" y="2252662"/>
            <a:ext cx="4724400" cy="1862138"/>
          </a:xfrm>
        </p:spPr>
        <p:txBody>
          <a:bodyPr>
            <a:normAutofit/>
          </a:bodyPr>
          <a:lstStyle/>
          <a:p>
            <a:r>
              <a:rPr lang="en-US" sz="4800" b="1" u="none" dirty="0">
                <a:latin typeface="Californian FB" panose="0207040306080B030204" pitchFamily="18" charset="0"/>
              </a:rPr>
              <a:t>KEY ANALYSIS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2933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Q1.Identify customers who have placed the highest number of orders. What does this indicate about their loyalty or engagement?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53AF40-18DE-46F8-A470-D2C4182C1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12" y="2931149"/>
            <a:ext cx="5745588" cy="23833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F1338F-C2AC-45EB-A34F-2A5DC3B0F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975" y="2798207"/>
            <a:ext cx="5114925" cy="275272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D4415C-927E-4D21-9258-9E79B3640390}"/>
              </a:ext>
            </a:extLst>
          </p:cNvPr>
          <p:cNvSpPr txBox="1"/>
          <p:nvPr/>
        </p:nvSpPr>
        <p:spPr>
          <a:xfrm>
            <a:off x="274212" y="5550933"/>
            <a:ext cx="9791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 / Answer: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customer with the highest number of orders is the platform’s most loyal and engaged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They are ideal for premium offers, loyalty rewards, referral incentives.</a:t>
            </a:r>
          </a:p>
        </p:txBody>
      </p:sp>
    </p:spTree>
    <p:extLst>
      <p:ext uri="{BB962C8B-B14F-4D97-AF65-F5344CB8AC3E}">
        <p14:creationId xmlns:p14="http://schemas.microsoft.com/office/powerpoint/2010/main" val="3748757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Q2.Find customers who haven’t placed any orders in the last </a:t>
            </a:r>
            <a:r>
              <a:rPr lang="en-US" b="1" u="none" dirty="0"/>
              <a:t>3</a:t>
            </a:r>
            <a:r>
              <a:rPr lang="en-US" b="1" dirty="0"/>
              <a:t> months. How can the platform re-engage them?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9EFE79-2C9A-4AD0-8ECB-187736294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175" y="2981325"/>
            <a:ext cx="3921126" cy="1541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32E7C-E617-423E-B770-54AB12294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159" y="2798207"/>
            <a:ext cx="5735067" cy="2440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4004D2-54EE-4A92-9977-DFB34C95FE32}"/>
              </a:ext>
            </a:extLst>
          </p:cNvPr>
          <p:cNvSpPr txBox="1"/>
          <p:nvPr/>
        </p:nvSpPr>
        <p:spPr>
          <a:xfrm>
            <a:off x="292100" y="5238750"/>
            <a:ext cx="944244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These customers may be lost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Poor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High delivery charges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Competition</a:t>
            </a:r>
            <a:b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Re-engagement: notifications, discounts, personalized offers.</a:t>
            </a:r>
          </a:p>
        </p:txBody>
      </p:sp>
    </p:spTree>
    <p:extLst>
      <p:ext uri="{BB962C8B-B14F-4D97-AF65-F5344CB8AC3E}">
        <p14:creationId xmlns:p14="http://schemas.microsoft.com/office/powerpoint/2010/main" val="1475714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Q3.Determine the average order value per customer. What does this reveal about spending habits?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EB9883-DB0E-4ACB-A915-1575E08B4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21" y="2832996"/>
            <a:ext cx="5058104" cy="27632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AE25AD-7CD7-4F6A-A7AE-3EFCBE9ED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543" y="2798207"/>
            <a:ext cx="4296032" cy="279802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A9F6761-248E-4994-B562-6274F233357B}"/>
              </a:ext>
            </a:extLst>
          </p:cNvPr>
          <p:cNvSpPr txBox="1"/>
          <p:nvPr/>
        </p:nvSpPr>
        <p:spPr>
          <a:xfrm>
            <a:off x="504825" y="55962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High AOV customers are premium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Low AOV customers may respond well to bundle deals</a:t>
            </a:r>
          </a:p>
        </p:txBody>
      </p:sp>
    </p:spTree>
    <p:extLst>
      <p:ext uri="{BB962C8B-B14F-4D97-AF65-F5344CB8AC3E}">
        <p14:creationId xmlns:p14="http://schemas.microsoft.com/office/powerpoint/2010/main" val="3248067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Q4.Identify the top 5 restaurants with the highest average ratings. What factors might contribute to their success?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7F2E00-25A3-4F01-813F-BB1AD56A7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2876351"/>
            <a:ext cx="5229225" cy="2581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C67BEA-200A-49B8-8DC8-203DDFB21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876351"/>
            <a:ext cx="4467225" cy="25818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481E18-1045-4A0A-8AD6-4C98EF7D63A4}"/>
              </a:ext>
            </a:extLst>
          </p:cNvPr>
          <p:cNvSpPr txBox="1"/>
          <p:nvPr/>
        </p:nvSpPr>
        <p:spPr>
          <a:xfrm>
            <a:off x="352425" y="580141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Factors: good food quality, timely delivery, popular cuisine.</a:t>
            </a:r>
          </a:p>
        </p:txBody>
      </p:sp>
    </p:spTree>
    <p:extLst>
      <p:ext uri="{BB962C8B-B14F-4D97-AF65-F5344CB8AC3E}">
        <p14:creationId xmlns:p14="http://schemas.microsoft.com/office/powerpoint/2010/main" val="26284768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Q5.Find restaurants with the lowest number of orders despite being active. What could be causing low performance?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132EF6-9B91-4ADB-B5B1-A34BA8481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07" y="2798206"/>
            <a:ext cx="5478043" cy="24595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A08446-06A4-4BD1-A8DB-61A127FA0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363" y="3133106"/>
            <a:ext cx="4272212" cy="1104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82E6E0-175A-452F-95CF-D1A7939E4309}"/>
              </a:ext>
            </a:extLst>
          </p:cNvPr>
          <p:cNvSpPr txBox="1"/>
          <p:nvPr/>
        </p:nvSpPr>
        <p:spPr>
          <a:xfrm>
            <a:off x="709363" y="5177199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Reasons may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Wrong cuisine for locality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Poor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High prices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Negative reviews</a:t>
            </a:r>
          </a:p>
        </p:txBody>
      </p:sp>
    </p:spTree>
    <p:extLst>
      <p:ext uri="{BB962C8B-B14F-4D97-AF65-F5344CB8AC3E}">
        <p14:creationId xmlns:p14="http://schemas.microsoft.com/office/powerpoint/2010/main" val="579037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Q6.Determine which cuisine types receive the most and least orders. How can marketing focus be adjusted accordingly?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C7F7C-FFB9-45E4-AF78-B796E4A82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09" y="2798207"/>
            <a:ext cx="5262941" cy="2086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797A4B-13CC-4FD1-920D-1D6EB112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275" y="2798207"/>
            <a:ext cx="2771775" cy="31577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Cuisine preferences help in marketing: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Most ordered → promote via combos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Least ordered → require offers or menu redesign</a:t>
            </a:r>
          </a:p>
        </p:txBody>
      </p:sp>
    </p:spTree>
    <p:extLst>
      <p:ext uri="{BB962C8B-B14F-4D97-AF65-F5344CB8AC3E}">
        <p14:creationId xmlns:p14="http://schemas.microsoft.com/office/powerpoint/2010/main" val="3977212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Q7.Calculate the total revenue generated in the last quarter. How does it compare to the previous one?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Shows business growth.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Q2 &gt; Q1 → indicates expansion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CF2CBB-1ADD-42AA-AEF8-D476000A8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68" y="2786814"/>
            <a:ext cx="5545882" cy="2156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947546-5583-4F92-8D6B-97AC70DB7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746" y="3291377"/>
            <a:ext cx="1800379" cy="9662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6AA842-F254-4363-8FA1-C3CF640CE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196" y="3291377"/>
            <a:ext cx="1886105" cy="95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619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Q8.Identify the top 3 most ordered menu items across all restaurants. Should these items be promoted further?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These should be marketed more → combo deals, highlight as “Most Popular”.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3B4EC2-B7FF-4355-884C-B6781700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18" y="2692766"/>
            <a:ext cx="5373037" cy="20712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5F8AE1-7A95-4EBF-BDD4-AB2FF5103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182" y="2837537"/>
            <a:ext cx="2667000" cy="122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054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52450"/>
            <a:ext cx="10360152" cy="15415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Q9.Analyze the revenue contribution of each restaurant. Which ones are the most profitable?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35242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200775" y="242887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Identifies top revenue drivers.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Low revenue restaurants may need visibility improvement.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57DFE-416C-4B9B-A28B-E4C17B830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" y="2798208"/>
            <a:ext cx="5286375" cy="2059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7AF89B-8F91-417F-9F11-B06B69287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167" y="2798207"/>
            <a:ext cx="3957908" cy="1811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25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75632"/>
            <a:ext cx="10360152" cy="103670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Q10.Determine the average number of items per order. How can order processing be optimized?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192405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3" y="1924050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Higher items/order = more complex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Helps optimize packaging and staffing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62CF7A-39CC-42C9-82EC-F983F24AF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2293382"/>
            <a:ext cx="5439534" cy="23797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75BEB37-AED0-468A-A6CE-7A77ECAE1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823" y="2978338"/>
            <a:ext cx="3105279" cy="86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191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96891"/>
            <a:ext cx="10360152" cy="1417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Q11.Identify orders where the total amount was less than a certain threshold (e.g., ₹200). Should minimum order charges be introduced?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2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Suggest adding: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Minimum order fees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Bundled pricing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Free delivery above threshold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44A2B-7474-4B2A-A722-874743C48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506038"/>
            <a:ext cx="4257675" cy="26374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367A5-8D00-40DF-B210-6E872B23E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049" y="3138447"/>
            <a:ext cx="5210902" cy="73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3666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96891"/>
            <a:ext cx="10360152" cy="1417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Q12.Find restaurants that receive the most reviews but have average ratings below 3.0 What corrective actions could be taken?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2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Indicates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consistent issues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→ urgent action required: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Quality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Staff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Review-based compensation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7698C-E519-4CE1-824C-75186C3CF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1" y="2575614"/>
            <a:ext cx="5424852" cy="22916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B70D92-9CAC-4DC1-A897-02F8A7515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853" y="3138446"/>
            <a:ext cx="4963218" cy="78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88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96891"/>
            <a:ext cx="10360152" cy="1417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Q13.Analyze the distribution of customer ratings. How many reviews are 4 stars or above?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2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Shows share of positive feedback → key for NPS measurement.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053BFD-C9FB-4500-A542-81036F9AC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732" y="2895523"/>
            <a:ext cx="2162268" cy="1047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24EB3-DBDE-4D1B-A743-B6FFE630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96" y="2752593"/>
            <a:ext cx="4706007" cy="18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361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96891"/>
            <a:ext cx="10360152" cy="1417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Q14.Identify customers who frequently leave low ratings. Could this indicate dissatisfaction or unrealistic expectations?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2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endParaRPr lang="en-US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May represent dissatisfied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Or users with naturally high expectations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Follow-up surveys recommended.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9CB5A-4325-4BCA-B075-EDF4B1A54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2575614"/>
            <a:ext cx="5105400" cy="26785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CE197F-F3BB-4DE7-A0FE-6F46DBE97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630" y="3067392"/>
            <a:ext cx="4229690" cy="110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47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96891"/>
            <a:ext cx="10360152" cy="1417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Q15.Find patterns in review comments to detect recurring issues (e.g., “cold food,” “late delivery”).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2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254133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endParaRPr lang="en-US" sz="1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Categorizes issues: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Late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Cold food</a:t>
            </a:r>
            <a:b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Helps prioritize operational fixes.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75740B-C017-45E7-9444-E4A53E94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508939"/>
            <a:ext cx="5788890" cy="26536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526FB1-767D-46BA-BF62-0306FF36A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743" y="2205532"/>
            <a:ext cx="4977438" cy="32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062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96891"/>
            <a:ext cx="10360152" cy="1417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Q16.Compare total revenue from vegetarian vs non-vegetarian menu items. Should the company invest more in one category?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2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771525" y="5745610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Shows which segment drives more revenue → helps investment strategy.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24964D-3637-4136-BC3C-5827D8F8E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2520926"/>
            <a:ext cx="5803329" cy="32246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C8E1854-72FD-493B-8712-6BDA43316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962" y="2788623"/>
            <a:ext cx="3041263" cy="1280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39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96891"/>
            <a:ext cx="10360152" cy="141705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Q17.Predict which customers are likely to become inactive based on order frequency and last order date.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19100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188462" y="220628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581024" y="5562599"/>
            <a:ext cx="76104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b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Based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Low order frequency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Old last-order date    -These customers need retention campaigns</a:t>
            </a:r>
            <a:r>
              <a:rPr lang="en-US" sz="1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0AE7FC-B569-41B1-BDDF-4C7E8F47A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24" y="2516320"/>
            <a:ext cx="5210526" cy="3046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D24BD6-9542-4F6D-BB80-B0FEAA68C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435" y="2936840"/>
            <a:ext cx="5220429" cy="197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853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686231"/>
            <a:ext cx="10360152" cy="674847"/>
          </a:xfrm>
        </p:spPr>
        <p:txBody>
          <a:bodyPr>
            <a:normAutofit/>
          </a:bodyPr>
          <a:lstStyle/>
          <a:p>
            <a:r>
              <a:rPr lang="en-US" b="1" dirty="0"/>
              <a:t>Q18) Weekend vs Weekday order trends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B9CAC-9861-4CC9-8550-752F72E7F568}"/>
              </a:ext>
            </a:extLst>
          </p:cNvPr>
          <p:cNvSpPr txBox="1"/>
          <p:nvPr/>
        </p:nvSpPr>
        <p:spPr>
          <a:xfrm>
            <a:off x="438150" y="145463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QUERY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022260-241F-4D49-9D1D-655966F7AEBC}"/>
              </a:ext>
            </a:extLst>
          </p:cNvPr>
          <p:cNvSpPr txBox="1"/>
          <p:nvPr/>
        </p:nvSpPr>
        <p:spPr>
          <a:xfrm>
            <a:off x="6096000" y="1397204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TABLE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49F2C-3C95-4FC5-8A32-42538908A391}"/>
              </a:ext>
            </a:extLst>
          </p:cNvPr>
          <p:cNvSpPr txBox="1"/>
          <p:nvPr/>
        </p:nvSpPr>
        <p:spPr>
          <a:xfrm>
            <a:off x="581024" y="5562599"/>
            <a:ext cx="76104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Analysis:</a:t>
            </a:r>
            <a:endParaRPr lang="en-US" sz="16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weekdays &gt; weekends → weekend combos can boost sales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95ADEF-6AE2-462B-BEF3-F8A13EFC9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21" y="1985799"/>
            <a:ext cx="5443929" cy="29767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05736F-DD48-42F2-B4C1-FA5178DCF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334" y="2513544"/>
            <a:ext cx="2667000" cy="139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31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42CE-B1FF-F5F8-B080-90809092D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F0BF0-B107-5FCC-4DFD-8E4AD8FDAE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Shubham Singh</a:t>
            </a:r>
          </a:p>
          <a:p>
            <a:r>
              <a:rPr lang="en-US" dirty="0"/>
              <a:t>shubhamsingh24305@gmail.com</a:t>
            </a:r>
          </a:p>
          <a:p>
            <a:r>
              <a:rPr lang="en-US" dirty="0"/>
              <a:t>www.shubhamsingh.space</a:t>
            </a:r>
          </a:p>
        </p:txBody>
      </p:sp>
    </p:spTree>
    <p:extLst>
      <p:ext uri="{BB962C8B-B14F-4D97-AF65-F5344CB8AC3E}">
        <p14:creationId xmlns:p14="http://schemas.microsoft.com/office/powerpoint/2010/main" val="237003676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TM77929380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7929380_win32_SD_v4" id="{FF6791CE-8A46-4E30-BBEB-5F2323043503}" vid="{107E73D9-B12F-464E-997E-142EF79586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Props1.xml><?xml version="1.0" encoding="utf-8"?>
<ds:datastoreItem xmlns:ds="http://schemas.openxmlformats.org/officeDocument/2006/customXml" ds:itemID="{5DA7B19D-87CC-4C2C-AA8E-9627D3BFD4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76CE1C2-24FF-4125-B61C-AD39973FCD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F23494-F630-4E01-81EA-AA2F29759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1058</Words>
  <Application>Microsoft Office PowerPoint</Application>
  <PresentationFormat>Widescreen</PresentationFormat>
  <Paragraphs>213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Californian FB</vt:lpstr>
      <vt:lpstr>Corbel</vt:lpstr>
      <vt:lpstr>Depth</vt:lpstr>
      <vt:lpstr>ONLINE FOOD ORDERING SYSTEM  – SQL CASE STUDY A Complete Database &amp; Business Analytics Project</vt:lpstr>
      <vt:lpstr>INTRODUCTION</vt:lpstr>
      <vt:lpstr>OBJECTIVES OF THE CASE STUDY</vt:lpstr>
      <vt:lpstr>SYSTEM OVERVIEW</vt:lpstr>
      <vt:lpstr>DATABASE SCHEMA OVERVIEW</vt:lpstr>
      <vt:lpstr>ER DIAGRAM</vt:lpstr>
      <vt:lpstr>CUSTOMERS TABLE</vt:lpstr>
      <vt:lpstr>RESTAURANTS TABLE</vt:lpstr>
      <vt:lpstr>MENUITEMS TABLE</vt:lpstr>
      <vt:lpstr>ORDERS TABLE</vt:lpstr>
      <vt:lpstr>ORDERDETAILS TABLE</vt:lpstr>
      <vt:lpstr>REVIEWS TABLE</vt:lpstr>
      <vt:lpstr>INSERTING DATA- CUSTOMERS TABLE</vt:lpstr>
      <vt:lpstr>INSERTING DATA- RESTAURANTS TABLE</vt:lpstr>
      <vt:lpstr>INSERTING DATA- MENUITEMS TABLE</vt:lpstr>
      <vt:lpstr>INSERTING DATA- ORDERS TABLE</vt:lpstr>
      <vt:lpstr>INSERTING DATA- ORDERDETAILS TABLE</vt:lpstr>
      <vt:lpstr>INSERTING DATA- REVIEWS TABLE</vt:lpstr>
      <vt:lpstr>KEY ANALYSIS</vt:lpstr>
      <vt:lpstr>Q1.Identify customers who have placed the highest number of orders. What does this indicate about their loyalty or engagement?</vt:lpstr>
      <vt:lpstr>Q2.Find customers who haven’t placed any orders in the last 3 months. How can the platform re-engage them?</vt:lpstr>
      <vt:lpstr>Q3.Determine the average order value per customer. What does this reveal about spending habits?</vt:lpstr>
      <vt:lpstr>Q4.Identify the top 5 restaurants with the highest average ratings. What factors might contribute to their success?</vt:lpstr>
      <vt:lpstr>Q5.Find restaurants with the lowest number of orders despite being active. What could be causing low performance?</vt:lpstr>
      <vt:lpstr>Q6.Determine which cuisine types receive the most and least orders. How can marketing focus be adjusted accordingly?</vt:lpstr>
      <vt:lpstr>Q7.Calculate the total revenue generated in the last quarter. How does it compare to the previous one?</vt:lpstr>
      <vt:lpstr>Q8.Identify the top 3 most ordered menu items across all restaurants. Should these items be promoted further?</vt:lpstr>
      <vt:lpstr>Q9.Analyze the revenue contribution of each restaurant. Which ones are the most profitable?</vt:lpstr>
      <vt:lpstr>Q10.Determine the average number of items per order. How can order processing be optimized?</vt:lpstr>
      <vt:lpstr>Q11.Identify orders where the total amount was less than a certain threshold (e.g., ₹200). Should minimum order charges be introduced?</vt:lpstr>
      <vt:lpstr>Q12.Find restaurants that receive the most reviews but have average ratings below 3.0 What corrective actions could be taken?</vt:lpstr>
      <vt:lpstr>Q13.Analyze the distribution of customer ratings. How many reviews are 4 stars or above?</vt:lpstr>
      <vt:lpstr>Q14.Identify customers who frequently leave low ratings. Could this indicate dissatisfaction or unrealistic expectations?</vt:lpstr>
      <vt:lpstr>Q15.Find patterns in review comments to detect recurring issues (e.g., “cold food,” “late delivery”).</vt:lpstr>
      <vt:lpstr>Q16.Compare total revenue from vegetarian vs non-vegetarian menu items. Should the company invest more in one category?</vt:lpstr>
      <vt:lpstr>Q17.Predict which customers are likely to become inactive based on order frequency and last order date.</vt:lpstr>
      <vt:lpstr>Q18) Weekend vs Weekday order trends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 ORDERING SYSTEM  – SQL CASE STUDY A Complete Database &amp; Business Analytics Project</dc:title>
  <dc:creator>shubh</dc:creator>
  <cp:lastModifiedBy>shubh</cp:lastModifiedBy>
  <cp:revision>2</cp:revision>
  <dcterms:created xsi:type="dcterms:W3CDTF">2025-11-22T08:35:23Z</dcterms:created>
  <dcterms:modified xsi:type="dcterms:W3CDTF">2025-11-22T12:56:42Z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Depth:8</vt:lpwstr>
  </property>
  <property fmtid="{D5CDD505-2E9C-101B-9397-08002B2CF9AE}" pid="5" name="ClassificationContentMarkingFooterText">
    <vt:lpwstr>Classified as Microsoft Confidential</vt:lpwstr>
  </property>
</Properties>
</file>